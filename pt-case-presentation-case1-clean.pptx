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1pPr>
    <a:lvl2pPr indent="2286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2pPr>
    <a:lvl3pPr indent="4572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3pPr>
    <a:lvl4pPr indent="6858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4pPr>
    <a:lvl5pPr indent="9144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5pPr>
    <a:lvl6pPr indent="11430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6pPr>
    <a:lvl7pPr indent="13716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7pPr>
    <a:lvl8pPr indent="16002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8pPr>
    <a:lvl9pPr indent="18288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と日付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作者と日付</a:t>
            </a:r>
          </a:p>
        </p:txBody>
      </p:sp>
      <p:sp>
        <p:nvSpPr>
          <p:cNvPr id="12" name="プレゼンテーションのタイトル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プレゼンテーションのタイトル</a:t>
            </a:r>
          </a:p>
        </p:txBody>
      </p:sp>
      <p:sp>
        <p:nvSpPr>
          <p:cNvPr id="13" name="本文レベル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5pPr>
          </a:lstStyle>
          <a:p>
            <a:pPr/>
            <a:r>
              <a:t>プレゼンテーションのサブタイトル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&amp;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アボカドとライム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プレゼンテーションのタイトル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プレゼンテーションのタイトル</a:t>
            </a:r>
          </a:p>
        </p:txBody>
      </p:sp>
      <p:sp>
        <p:nvSpPr>
          <p:cNvPr id="23" name="作者と日付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作者と日付</a:t>
            </a:r>
          </a:p>
        </p:txBody>
      </p:sp>
      <p:sp>
        <p:nvSpPr>
          <p:cNvPr id="24" name="本文レベル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5pPr>
          </a:lstStyle>
          <a:p>
            <a:pPr/>
            <a:r>
              <a:t>プレゼンテーションのサブタイトル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&amp;画像（代替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サーモンケーキ、サラダ、フムスが入ったボウル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スライドのタイトル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スライドのタイトル</a:t>
            </a:r>
          </a:p>
        </p:txBody>
      </p:sp>
      <p:sp>
        <p:nvSpPr>
          <p:cNvPr id="34" name="本文レベル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5pPr>
          </a:lstStyle>
          <a:p>
            <a:pPr/>
            <a:r>
              <a:t>スライドのサブタイトル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スライド番号"/>
          <p:cNvSpPr txBox="1"/>
          <p:nvPr>
            <p:ph type="sldNum" sz="quarter" idx="2"/>
          </p:nvPr>
        </p:nvSpPr>
        <p:spPr>
          <a:xfrm>
            <a:off x="11978411" y="13129632"/>
            <a:ext cx="414681" cy="3302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&amp;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スライドのタイトル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スライドのタイトル</a:t>
            </a:r>
          </a:p>
        </p:txBody>
      </p:sp>
      <p:sp>
        <p:nvSpPr>
          <p:cNvPr id="43" name="スライドのサブタイトル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スライドのサブタイトル</a:t>
            </a:r>
          </a:p>
        </p:txBody>
      </p:sp>
      <p:sp>
        <p:nvSpPr>
          <p:cNvPr id="44" name="本文レベル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本文レベル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、箇条書き、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スライドのサブタイトル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スライドのサブタイトル</a:t>
            </a:r>
          </a:p>
        </p:txBody>
      </p:sp>
      <p:sp>
        <p:nvSpPr>
          <p:cNvPr id="61" name="本文レベル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パセリバター、煎りヘーゼルナッツ、削ったパルメザンチーズがかかったパッパルデッレパスタ1皿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スライドのタイトル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スライドのタイトル</a:t>
            </a:r>
          </a:p>
        </p:txBody>
      </p:sp>
      <p:sp>
        <p:nvSpPr>
          <p:cNvPr id="64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、箇条書き、ライブビデオ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スライドのサブタイトル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スライドのサブタイトル</a:t>
            </a:r>
          </a:p>
        </p:txBody>
      </p:sp>
      <p:sp>
        <p:nvSpPr>
          <p:cNvPr id="72" name="本文レベル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スライドのタイトル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スライドのタイトル</a:t>
            </a:r>
          </a:p>
        </p:txBody>
      </p:sp>
      <p:sp>
        <p:nvSpPr>
          <p:cNvPr id="74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、箇条書き、ライブビデオ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スライドのサブタイトル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スライドのサブタイトル</a:t>
            </a:r>
          </a:p>
        </p:txBody>
      </p:sp>
      <p:sp>
        <p:nvSpPr>
          <p:cNvPr id="82" name="本文レベル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スライドのタイトル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スライドのタイトル</a:t>
            </a:r>
          </a:p>
        </p:txBody>
      </p:sp>
      <p:sp>
        <p:nvSpPr>
          <p:cNvPr id="84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セクションタイトル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pc="-232" sz="11600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1pPr>
          </a:lstStyle>
          <a:p>
            <a:pPr/>
            <a:r>
              <a:t>セクションタイトル</a:t>
            </a:r>
          </a:p>
        </p:txBody>
      </p:sp>
      <p:sp>
        <p:nvSpPr>
          <p:cNvPr id="92" name="スライド番号"/>
          <p:cNvSpPr txBox="1"/>
          <p:nvPr>
            <p:ph type="sldNum" sz="quarter" idx="2"/>
          </p:nvPr>
        </p:nvSpPr>
        <p:spPr>
          <a:xfrm>
            <a:off x="11978411" y="13129632"/>
            <a:ext cx="414681" cy="3302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スライドのタイトル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スライドのタイトル</a:t>
            </a:r>
          </a:p>
        </p:txBody>
      </p:sp>
      <p:sp>
        <p:nvSpPr>
          <p:cNvPr id="100" name="スライドのサブタイトル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スライドのサブタイトル</a:t>
            </a:r>
          </a:p>
        </p:txBody>
      </p:sp>
      <p:sp>
        <p:nvSpPr>
          <p:cNvPr id="101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議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議題のタイトル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議題のタイトル</a:t>
            </a:r>
          </a:p>
        </p:txBody>
      </p:sp>
      <p:sp>
        <p:nvSpPr>
          <p:cNvPr id="109" name="議題のサブタイトル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議題のサブタイトル</a:t>
            </a:r>
          </a:p>
        </p:txBody>
      </p:sp>
      <p:sp>
        <p:nvSpPr>
          <p:cNvPr id="110" name="本文レベル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議題のトピック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ステートメン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本文レベル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/>
            </a:lvl5pPr>
          </a:lstStyle>
          <a:p>
            <a:pPr/>
            <a:r>
              <a:t>ステートメント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ビッグファク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本文レベル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50" sz="25000">
                <a:latin typeface="+mn-lt"/>
                <a:ea typeface="+mn-ea"/>
                <a:cs typeface="+mn-cs"/>
                <a:sym typeface="ヒラギノ角ゴ ProN W6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50" sz="25000">
                <a:latin typeface="+mn-lt"/>
                <a:ea typeface="+mn-ea"/>
                <a:cs typeface="+mn-cs"/>
                <a:sym typeface="ヒラギノ角ゴ ProN W6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50" sz="25000">
                <a:latin typeface="+mn-lt"/>
                <a:ea typeface="+mn-ea"/>
                <a:cs typeface="+mn-cs"/>
                <a:sym typeface="ヒラギノ角ゴ ProN W6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50" sz="25000">
                <a:latin typeface="+mn-lt"/>
                <a:ea typeface="+mn-ea"/>
                <a:cs typeface="+mn-cs"/>
                <a:sym typeface="ヒラギノ角ゴ ProN W6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50" sz="25000">
                <a:latin typeface="+mn-lt"/>
                <a:ea typeface="+mn-ea"/>
                <a:cs typeface="+mn-cs"/>
                <a:sym typeface="ヒラギノ角ゴ ProN W6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ファクト情報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ファクト情報</a:t>
            </a:r>
          </a:p>
        </p:txBody>
      </p:sp>
      <p:sp>
        <p:nvSpPr>
          <p:cNvPr id="128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属性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属性</a:t>
            </a:r>
          </a:p>
        </p:txBody>
      </p:sp>
      <p:sp>
        <p:nvSpPr>
          <p:cNvPr id="136" name="本文レベル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/>
            </a:lvl1pPr>
            <a:lvl2pPr marL="638923" indent="-12700">
              <a:spcBef>
                <a:spcPts val="0"/>
              </a:spcBef>
              <a:buSzTx/>
              <a:buNone/>
              <a:defRPr spc="-170" sz="8500"/>
            </a:lvl2pPr>
            <a:lvl3pPr marL="638923" indent="444500">
              <a:spcBef>
                <a:spcPts val="0"/>
              </a:spcBef>
              <a:buSzTx/>
              <a:buNone/>
              <a:defRPr spc="-170" sz="8500"/>
            </a:lvl3pPr>
            <a:lvl4pPr marL="638923" indent="901700">
              <a:spcBef>
                <a:spcPts val="0"/>
              </a:spcBef>
              <a:buSzTx/>
              <a:buNone/>
              <a:defRPr spc="-170" sz="8500"/>
            </a:lvl4pPr>
            <a:lvl5pPr marL="638923" indent="1358900">
              <a:spcBef>
                <a:spcPts val="0"/>
              </a:spcBef>
              <a:buSzTx/>
              <a:buNone/>
              <a:defRPr spc="-170" sz="8500"/>
            </a:lvl5pPr>
          </a:lstStyle>
          <a:p>
            <a:pPr/>
            <a:r>
              <a:t>“重要な引用”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画像（3点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炒飯、ゆで卵、箸が添えられたボウル1杯のサラダ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サーモンケーキ、サラダ、フムスが入ったボウル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パセリバター、煎りヘーゼルナッツ、削ったパルメザンチーズがかかったパッパルデッレパスタ1皿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写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炒飯、ゆで卵、箸が添えられたボウル1杯のサラダ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のタイトル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スライドのタイトル</a:t>
            </a:r>
          </a:p>
        </p:txBody>
      </p:sp>
      <p:sp>
        <p:nvSpPr>
          <p:cNvPr id="3" name="本文レベル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スライド番号"/>
          <p:cNvSpPr txBox="1"/>
          <p:nvPr>
            <p:ph type="sldNum" sz="quarter" idx="2"/>
          </p:nvPr>
        </p:nvSpPr>
        <p:spPr>
          <a:xfrm>
            <a:off x="11978411" y="13125399"/>
            <a:ext cx="414681" cy="3302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作者と日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腰部脊柱管狭窄症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腰部脊柱管狭窄症</a:t>
            </a:r>
          </a:p>
        </p:txBody>
      </p:sp>
      <p:sp>
        <p:nvSpPr>
          <p:cNvPr id="173" name="初期評価発表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初期評価発表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作者と日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6" name="症例概要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症例概要</a:t>
            </a:r>
          </a:p>
        </p:txBody>
      </p:sp>
      <p:sp>
        <p:nvSpPr>
          <p:cNvPr id="177" name="• 70歳男性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379729">
              <a:defRPr sz="2530"/>
            </a:pPr>
            <a:r>
              <a:t>• 70歳男性</a:t>
            </a:r>
          </a:p>
          <a:p>
            <a:pPr defTabSz="379729">
              <a:defRPr sz="2530"/>
            </a:pPr>
            <a:r>
              <a:t>• 保存療法中</a:t>
            </a:r>
          </a:p>
          <a:p>
            <a:pPr defTabSz="379729">
              <a:defRPr sz="2530"/>
            </a:pPr>
            <a:r>
              <a:t>• 独居</a:t>
            </a:r>
          </a:p>
          <a:p>
            <a:pPr defTabSz="379729">
              <a:defRPr sz="2530"/>
            </a:pPr>
            <a:r>
              <a:t>• 通院に地下鉄・バス利用が必要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作者と日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0" name="主訴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主訴</a:t>
            </a:r>
          </a:p>
        </p:txBody>
      </p:sp>
      <p:sp>
        <p:nvSpPr>
          <p:cNvPr id="181" name="• 一人で歩けない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536575">
              <a:defRPr sz="3575"/>
            </a:pPr>
            <a:r>
              <a:t>• 一人で歩けない</a:t>
            </a:r>
          </a:p>
          <a:p>
            <a:pPr defTabSz="536575">
              <a:defRPr sz="3575"/>
            </a:pPr>
            <a:r>
              <a:t>• 現在は車椅子移動自立</a:t>
            </a:r>
          </a:p>
          <a:p>
            <a:pPr defTabSz="536575">
              <a:defRPr sz="3575"/>
            </a:pPr>
            <a:r>
              <a:t>• 歩行自立には至っていない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作者と日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4" name="患者目標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患者目標</a:t>
            </a:r>
          </a:p>
        </p:txBody>
      </p:sp>
      <p:sp>
        <p:nvSpPr>
          <p:cNvPr id="185" name="• 杖または歩行器で屋外歩行自立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536575">
              <a:defRPr sz="3575"/>
            </a:pPr>
            <a:r>
              <a:t>• 杖または歩行器で屋外歩行自立</a:t>
            </a:r>
          </a:p>
          <a:p>
            <a:pPr defTabSz="536575">
              <a:defRPr sz="3575"/>
            </a:pPr>
            <a:r>
              <a:t>• 通院に必要な移動能力の獲得</a:t>
            </a:r>
          </a:p>
          <a:p>
            <a:pPr defTabSz="536575">
              <a:defRPr sz="3575"/>
            </a:pPr>
            <a:r>
              <a:t>• 独居生活の継続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作者と日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8" name="主要な評価所見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主要な評価所見</a:t>
            </a:r>
          </a:p>
        </p:txBody>
      </p:sp>
      <p:sp>
        <p:nvSpPr>
          <p:cNvPr id="189" name="• 起居時腰痛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330200">
              <a:defRPr sz="2200"/>
            </a:pPr>
            <a:r>
              <a:t>• 起居時腰痛</a:t>
            </a:r>
          </a:p>
          <a:p>
            <a:pPr defTabSz="330200">
              <a:defRPr sz="2200"/>
            </a:pPr>
            <a:r>
              <a:t>• 左股関節屈曲制限</a:t>
            </a:r>
          </a:p>
          <a:p>
            <a:pPr defTabSz="330200">
              <a:defRPr sz="2200"/>
            </a:pPr>
            <a:r>
              <a:t>• 左下肢MMT4</a:t>
            </a:r>
          </a:p>
          <a:p>
            <a:pPr defTabSz="330200">
              <a:defRPr sz="2200"/>
            </a:pPr>
            <a:r>
              <a:t>• FBS24点</a:t>
            </a:r>
          </a:p>
          <a:p>
            <a:pPr defTabSz="330200">
              <a:defRPr sz="2200"/>
            </a:pPr>
            <a:r>
              <a:t>• 左下肢表在感覚中等度鈍麻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作者と日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2" name="歩行の特徴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歩行の特徴</a:t>
            </a:r>
          </a:p>
        </p:txBody>
      </p:sp>
      <p:sp>
        <p:nvSpPr>
          <p:cNvPr id="193" name="• 左膝back kneeを認める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379729">
              <a:defRPr sz="2530"/>
            </a:pPr>
            <a:r>
              <a:t>• 左膝back kneeを認める</a:t>
            </a:r>
          </a:p>
          <a:p>
            <a:pPr defTabSz="379729">
              <a:defRPr sz="2530"/>
            </a:pPr>
            <a:r>
              <a:t>• 大腿四頭筋代償あり</a:t>
            </a:r>
          </a:p>
          <a:p>
            <a:pPr defTabSz="379729">
              <a:defRPr sz="2530"/>
            </a:pPr>
            <a:r>
              <a:t>• 歩行の安全性が低下</a:t>
            </a:r>
          </a:p>
          <a:p>
            <a:pPr defTabSz="379729">
              <a:defRPr sz="2530"/>
            </a:pPr>
            <a:r>
              <a:t>• 歩行効率も低下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作者と日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6" name="問題点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問題点</a:t>
            </a:r>
          </a:p>
        </p:txBody>
      </p:sp>
      <p:sp>
        <p:nvSpPr>
          <p:cNvPr id="197" name="• 左下肢支持性低下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330200">
              <a:defRPr sz="2200"/>
            </a:pPr>
            <a:r>
              <a:t>• 左下肢支持性低下</a:t>
            </a:r>
          </a:p>
          <a:p>
            <a:pPr defTabSz="330200">
              <a:defRPr sz="2200"/>
            </a:pPr>
            <a:r>
              <a:t>• 感覚入力低下</a:t>
            </a:r>
          </a:p>
          <a:p>
            <a:pPr defTabSz="330200">
              <a:defRPr sz="2200"/>
            </a:pPr>
            <a:r>
              <a:t>• バランス低下</a:t>
            </a:r>
          </a:p>
          <a:p>
            <a:pPr defTabSz="330200">
              <a:defRPr sz="2200"/>
            </a:pPr>
            <a:r>
              <a:t>• 転倒リスクが高い</a:t>
            </a:r>
          </a:p>
          <a:p>
            <a:pPr defTabSz="330200">
              <a:defRPr sz="2200"/>
            </a:pPr>
            <a:r>
              <a:t>• 屋外移動能力不足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作者と日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0" name="統合と解釈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統合と解釈</a:t>
            </a:r>
          </a:p>
        </p:txBody>
      </p:sp>
      <p:sp>
        <p:nvSpPr>
          <p:cNvPr id="201" name="• 支持性低下と感覚低下が歩行不安定性に関与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536575">
              <a:defRPr sz="3575"/>
            </a:pPr>
            <a:r>
              <a:t>• 支持性低下と感覚低下が歩行不安定性に関与</a:t>
            </a:r>
          </a:p>
          <a:p>
            <a:pPr defTabSz="536575">
              <a:defRPr sz="3575"/>
            </a:pPr>
            <a:r>
              <a:t>• back kneeは代償動作として出現</a:t>
            </a:r>
          </a:p>
          <a:p>
            <a:pPr defTabSz="536575">
              <a:defRPr sz="3575"/>
            </a:pPr>
            <a:r>
              <a:t>• 実用的な屋外歩行能力の獲得が最重要課題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作者と日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4" name="現在の治療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現在の治療</a:t>
            </a:r>
          </a:p>
        </p:txBody>
      </p:sp>
      <p:sp>
        <p:nvSpPr>
          <p:cNvPr id="205" name="• 裸足での立位バランス練習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• 裸足での立位バランス練習</a:t>
            </a:r>
          </a:p>
          <a:p>
            <a:pPr/>
            <a:r>
              <a:t>• エルゴメーター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作者と日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8" name="治療の根拠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治療の根拠</a:t>
            </a:r>
          </a:p>
        </p:txBody>
      </p:sp>
      <p:sp>
        <p:nvSpPr>
          <p:cNvPr id="209" name="• バランス練習は立位安定性の改善に有用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379729">
              <a:defRPr sz="2530"/>
            </a:pPr>
            <a:r>
              <a:t>• バランス練習は立位安定性の改善に有用</a:t>
            </a:r>
          </a:p>
          <a:p>
            <a:pPr defTabSz="379729">
              <a:defRPr sz="2530"/>
            </a:pPr>
            <a:r>
              <a:t>• 感覚入力低下への介入として妥当</a:t>
            </a:r>
          </a:p>
          <a:p>
            <a:pPr defTabSz="379729">
              <a:defRPr sz="2530"/>
            </a:pPr>
            <a:r>
              <a:t>• エルゴメーターは活動量と持久性の確保に有用</a:t>
            </a:r>
          </a:p>
          <a:p>
            <a:pPr defTabSz="379729">
              <a:defRPr sz="2530"/>
            </a:pPr>
            <a:r>
              <a:t>• LSSでは運動療法で機能改善の報告あり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作者と日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2" name="治療方針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治療方針</a:t>
            </a:r>
          </a:p>
        </p:txBody>
      </p:sp>
      <p:sp>
        <p:nvSpPr>
          <p:cNvPr id="213" name="• 安全管理を最優先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379729">
              <a:defRPr sz="2530"/>
            </a:pPr>
            <a:r>
              <a:t>• 安全管理を最優先</a:t>
            </a:r>
          </a:p>
          <a:p>
            <a:pPr defTabSz="379729">
              <a:defRPr sz="2530"/>
            </a:pPr>
            <a:r>
              <a:t>• 左下肢支持性を向上する</a:t>
            </a:r>
          </a:p>
          <a:p>
            <a:pPr defTabSz="379729">
              <a:defRPr sz="2530"/>
            </a:pPr>
            <a:r>
              <a:t>• バランス能力を改善する</a:t>
            </a:r>
          </a:p>
          <a:p>
            <a:pPr defTabSz="379729">
              <a:defRPr sz="2530"/>
            </a:pPr>
            <a:r>
              <a:t>• 歩行代償を軽減する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作者と日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6" name="到達目標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到達目標</a:t>
            </a:r>
          </a:p>
        </p:txBody>
      </p:sp>
      <p:sp>
        <p:nvSpPr>
          <p:cNvPr id="217" name="• 短期: 屋内歩行能力の向上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536575">
              <a:defRPr sz="3575"/>
            </a:pPr>
            <a:r>
              <a:t>• 短期: 屋内歩行能力の向上</a:t>
            </a:r>
          </a:p>
          <a:p>
            <a:pPr defTabSz="536575">
              <a:defRPr sz="3575"/>
            </a:pPr>
            <a:r>
              <a:t>• 短期: 立位・歩行の安定性改善</a:t>
            </a:r>
          </a:p>
          <a:p>
            <a:pPr defTabSz="536575">
              <a:defRPr sz="3575"/>
            </a:pPr>
            <a:r>
              <a:t>• 長期: 杖または歩行器で屋外歩行自立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作者と日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0" name="注意点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注意点</a:t>
            </a:r>
          </a:p>
        </p:txBody>
      </p:sp>
      <p:sp>
        <p:nvSpPr>
          <p:cNvPr id="221" name="• コルセット着用中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536575">
              <a:defRPr sz="3575"/>
            </a:pPr>
            <a:r>
              <a:t>• コルセット着用中</a:t>
            </a:r>
          </a:p>
          <a:p>
            <a:pPr defTabSz="536575">
              <a:defRPr sz="3575"/>
            </a:pPr>
            <a:r>
              <a:t>• 左下肢DVTあり</a:t>
            </a:r>
          </a:p>
          <a:p>
            <a:pPr defTabSz="536575">
              <a:defRPr sz="3575"/>
            </a:pPr>
            <a:r>
              <a:t>• 運動負荷は症状と指示を確認し調整する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ヒラギノ角ゴ ProN W6"/>
        <a:ea typeface="ヒラギノ角ゴ ProN W6"/>
        <a:cs typeface="ヒラギノ角ゴ ProN W6"/>
      </a:majorFont>
      <a:minorFont>
        <a:latin typeface="ヒラギノ角ゴ ProN W6"/>
        <a:ea typeface="ヒラギノ角ゴ ProN W6"/>
        <a:cs typeface="ヒラギノ角ゴ ProN W6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ヒラギノ角ゴ ProN W3"/>
            <a:ea typeface="ヒラギノ角ゴ ProN W3"/>
            <a:cs typeface="ヒラギノ角ゴ ProN W3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ヒラギノ角ゴ ProN W3"/>
            <a:ea typeface="ヒラギノ角ゴ ProN W3"/>
            <a:cs typeface="ヒラギノ角ゴ ProN W3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ヒラギノ角ゴ ProN W6"/>
        <a:ea typeface="ヒラギノ角ゴ ProN W6"/>
        <a:cs typeface="ヒラギノ角ゴ ProN W6"/>
      </a:majorFont>
      <a:minorFont>
        <a:latin typeface="ヒラギノ角ゴ ProN W6"/>
        <a:ea typeface="ヒラギノ角ゴ ProN W6"/>
        <a:cs typeface="ヒラギノ角ゴ ProN W6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ヒラギノ角ゴ ProN W3"/>
            <a:ea typeface="ヒラギノ角ゴ ProN W3"/>
            <a:cs typeface="ヒラギノ角ゴ ProN W3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ヒラギノ角ゴ ProN W3"/>
            <a:ea typeface="ヒラギノ角ゴ ProN W3"/>
            <a:cs typeface="ヒラギノ角ゴ ProN W3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