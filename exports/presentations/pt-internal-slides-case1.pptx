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1pPr>
    <a:lvl2pPr indent="228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2pPr>
    <a:lvl3pPr indent="457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3pPr>
    <a:lvl4pPr indent="685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4pPr>
    <a:lvl5pPr indent="9144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5pPr>
    <a:lvl6pPr indent="11430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6pPr>
    <a:lvl7pPr indent="1371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7pPr>
    <a:lvl8pPr indent="1600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8pPr>
    <a:lvl9pPr indent="1828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と日付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作者と日付</a:t>
            </a:r>
          </a:p>
        </p:txBody>
      </p:sp>
      <p:sp>
        <p:nvSpPr>
          <p:cNvPr id="12" name="プレゼンテーションのタイトル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13" name="本文レベル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プレゼンテーションのサブタイトル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アボカドとライム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プレゼンテーションのタイトル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23" name="作者と日付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作者と日付</a:t>
            </a:r>
          </a:p>
        </p:txBody>
      </p:sp>
      <p:sp>
        <p:nvSpPr>
          <p:cNvPr id="24" name="本文レベル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プレゼンテーションのサブタイトル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（代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サーモンケーキ、サラダ、フムスが入ったボウル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スライドのタイトル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スライドのタイトル</a:t>
            </a:r>
          </a:p>
        </p:txBody>
      </p:sp>
      <p:sp>
        <p:nvSpPr>
          <p:cNvPr id="34" name="本文レベル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スライドのサブタイトル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スライド番号"/>
          <p:cNvSpPr txBox="1"/>
          <p:nvPr>
            <p:ph type="sldNum" sz="quarter" idx="2"/>
          </p:nvPr>
        </p:nvSpPr>
        <p:spPr>
          <a:xfrm>
            <a:off x="11978411" y="13129632"/>
            <a:ext cx="414681" cy="3302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スライドのタイトル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43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44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61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パセリバター、煎りヘーゼルナッツ、削ったパルメザンチーズがかかったパッパルデッレパスタ1皿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6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ライブビデオ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72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7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ライブビデオ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82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8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セクションタイトル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232" sz="116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/>
            <a:r>
              <a:t>セクションタイトル</a:t>
            </a:r>
          </a:p>
        </p:txBody>
      </p:sp>
      <p:sp>
        <p:nvSpPr>
          <p:cNvPr id="92" name="スライド番号"/>
          <p:cNvSpPr txBox="1"/>
          <p:nvPr>
            <p:ph type="sldNum" sz="quarter" idx="2"/>
          </p:nvPr>
        </p:nvSpPr>
        <p:spPr>
          <a:xfrm>
            <a:off x="11978411" y="13129632"/>
            <a:ext cx="414681" cy="3302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100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10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議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議題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議題のタイトル</a:t>
            </a:r>
          </a:p>
        </p:txBody>
      </p:sp>
      <p:sp>
        <p:nvSpPr>
          <p:cNvPr id="109" name="議題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議題のサブタイトル</a:t>
            </a:r>
          </a:p>
        </p:txBody>
      </p:sp>
      <p:sp>
        <p:nvSpPr>
          <p:cNvPr id="110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議題のトピック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ステートメン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本文レベル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5pPr>
          </a:lstStyle>
          <a:p>
            <a:pPr/>
            <a:r>
              <a:t>ステートメント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ビッグファク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本文レベル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ファクト情報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ファクト情報</a:t>
            </a:r>
          </a:p>
        </p:txBody>
      </p:sp>
      <p:sp>
        <p:nvSpPr>
          <p:cNvPr id="12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属性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属性</a:t>
            </a:r>
          </a:p>
        </p:txBody>
      </p:sp>
      <p:sp>
        <p:nvSpPr>
          <p:cNvPr id="136" name="本文レベル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/>
            </a:lvl1pPr>
            <a:lvl2pPr marL="638923" indent="-12700">
              <a:spcBef>
                <a:spcPts val="0"/>
              </a:spcBef>
              <a:buSzTx/>
              <a:buNone/>
              <a:defRPr spc="-170" sz="8500"/>
            </a:lvl2pPr>
            <a:lvl3pPr marL="638923" indent="444500">
              <a:spcBef>
                <a:spcPts val="0"/>
              </a:spcBef>
              <a:buSzTx/>
              <a:buNone/>
              <a:defRPr spc="-170" sz="8500"/>
            </a:lvl3pPr>
            <a:lvl4pPr marL="638923" indent="901700">
              <a:spcBef>
                <a:spcPts val="0"/>
              </a:spcBef>
              <a:buSzTx/>
              <a:buNone/>
              <a:defRPr spc="-170" sz="8500"/>
            </a:lvl4pPr>
            <a:lvl5pPr marL="638923" indent="1358900">
              <a:spcBef>
                <a:spcPts val="0"/>
              </a:spcBef>
              <a:buSzTx/>
              <a:buNone/>
              <a:defRPr spc="-170" sz="8500"/>
            </a:lvl5pPr>
          </a:lstStyle>
          <a:p>
            <a:pPr/>
            <a:r>
              <a:t>“重要な引用”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炒飯、ゆで卵、箸が添えられたボウル1杯のサラダ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サーモンケーキ、サラダ、フムスが入ったボウル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パセリバター、煎りヘーゼルナッツ、削ったパルメザンチーズがかかったパッパルデッレパスタ1皿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炒飯、ゆで卵、箸が添えられたボウル1杯のサラダ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スライドのタイトル</a:t>
            </a:r>
          </a:p>
        </p:txBody>
      </p:sp>
      <p:sp>
        <p:nvSpPr>
          <p:cNvPr id="3" name="本文レベル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スライド番号"/>
          <p:cNvSpPr txBox="1"/>
          <p:nvPr>
            <p:ph type="sldNum" sz="quarter" idx="2"/>
          </p:nvPr>
        </p:nvSpPr>
        <p:spPr>
          <a:xfrm>
            <a:off x="11978411" y="13125399"/>
            <a:ext cx="414681" cy="3302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腰部脊柱管狭窄症の一症例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79" sz="4000"/>
            </a:lvl1pPr>
          </a:lstStyle>
          <a:p>
            <a:pPr/>
            <a:r>
              <a:t>腰部脊柱管狭窄症の一症例</a:t>
            </a:r>
          </a:p>
        </p:txBody>
      </p:sp>
      <p:sp>
        <p:nvSpPr>
          <p:cNvPr id="173" name="初期評価と治療方針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/>
            <a:r>
              <a:t>初期評価と治療方針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背景・目的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背景・目的</a:t>
            </a:r>
          </a:p>
        </p:txBody>
      </p:sp>
      <p:sp>
        <p:nvSpPr>
          <p:cNvPr id="177" name="• 歩行自立困難な症例を経験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歩行自立困難な症例を経験</a:t>
            </a:r>
          </a:p>
          <a:p>
            <a:pPr>
              <a:defRPr sz="2000"/>
            </a:pPr>
            <a:r>
              <a:t>• 屋外移動の再獲得が課題</a:t>
            </a:r>
          </a:p>
          <a:p>
            <a:pPr>
              <a:defRPr sz="2000"/>
            </a:pPr>
            <a:r>
              <a:t>• 初期評価から治療方針を整理する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0" name="症例紹介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症例紹介</a:t>
            </a:r>
          </a:p>
        </p:txBody>
      </p:sp>
      <p:sp>
        <p:nvSpPr>
          <p:cNvPr id="181" name="• 70歳男性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70歳男性</a:t>
            </a:r>
          </a:p>
          <a:p>
            <a:pPr>
              <a:defRPr sz="2000"/>
            </a:pPr>
            <a:r>
              <a:t>• 診断名: 腰部脊柱管狭窄症</a:t>
            </a:r>
          </a:p>
          <a:p>
            <a:pPr>
              <a:defRPr sz="2000"/>
            </a:pPr>
            <a:r>
              <a:t>• 保存療法中</a:t>
            </a:r>
          </a:p>
          <a:p>
            <a:pPr>
              <a:defRPr sz="2000"/>
            </a:pPr>
            <a:r>
              <a:t>• 独居、通院に地下鉄・バス利用が必要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主訴と目標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主訴と目標</a:t>
            </a:r>
          </a:p>
        </p:txBody>
      </p:sp>
      <p:sp>
        <p:nvSpPr>
          <p:cNvPr id="185" name="• 主訴: 一人で歩けない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主訴: 一人で歩けない</a:t>
            </a:r>
          </a:p>
          <a:p>
            <a:pPr>
              <a:defRPr sz="2000"/>
            </a:pPr>
            <a:r>
              <a:t>• 現在は車椅子移動自立</a:t>
            </a:r>
          </a:p>
          <a:p>
            <a:pPr>
              <a:defRPr sz="2000"/>
            </a:pPr>
            <a:r>
              <a:t>• 目標: 杖または歩行器で屋外歩行自立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初期評価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初期評価</a:t>
            </a:r>
          </a:p>
        </p:txBody>
      </p:sp>
      <p:sp>
        <p:nvSpPr>
          <p:cNvPr id="189" name="• 起居時腰痛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起居時腰痛</a:t>
            </a:r>
          </a:p>
          <a:p>
            <a:pPr>
              <a:defRPr sz="2000"/>
            </a:pPr>
            <a:r>
              <a:t>• 左股関節屈曲制限</a:t>
            </a:r>
          </a:p>
          <a:p>
            <a:pPr>
              <a:defRPr sz="2000"/>
            </a:pPr>
            <a:r>
              <a:t>• 左下肢MMT4</a:t>
            </a:r>
          </a:p>
          <a:p>
            <a:pPr>
              <a:defRPr sz="2000"/>
            </a:pPr>
            <a:r>
              <a:t>• FBS24点</a:t>
            </a:r>
          </a:p>
          <a:p>
            <a:pPr>
              <a:defRPr sz="2000"/>
            </a:pPr>
            <a:r>
              <a:t>• 左下肢表在感覚中等度鈍麻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歩行の特徴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歩行の特徴</a:t>
            </a:r>
          </a:p>
        </p:txBody>
      </p:sp>
      <p:sp>
        <p:nvSpPr>
          <p:cNvPr id="193" name="• 左膝back kneeを認める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左膝back kneeを認める</a:t>
            </a:r>
          </a:p>
          <a:p>
            <a:pPr>
              <a:defRPr sz="2000"/>
            </a:pPr>
            <a:r>
              <a:t>• 大腿四頭筋代償あり</a:t>
            </a:r>
          </a:p>
          <a:p>
            <a:pPr>
              <a:defRPr sz="2000"/>
            </a:pPr>
            <a:r>
              <a:t>• 歩行効率が低下</a:t>
            </a:r>
          </a:p>
          <a:p>
            <a:pPr>
              <a:defRPr sz="2000"/>
            </a:pPr>
            <a:r>
              <a:t>• 転倒リスクが高い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6" name="問題点の整理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問題点の整理</a:t>
            </a:r>
          </a:p>
        </p:txBody>
      </p:sp>
      <p:sp>
        <p:nvSpPr>
          <p:cNvPr id="197" name="• 左下肢支持性低下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左下肢支持性低下</a:t>
            </a:r>
          </a:p>
          <a:p>
            <a:pPr>
              <a:defRPr sz="2000"/>
            </a:pPr>
            <a:r>
              <a:t>• 感覚入力低下</a:t>
            </a:r>
          </a:p>
          <a:p>
            <a:pPr>
              <a:defRPr sz="2000"/>
            </a:pPr>
            <a:r>
              <a:t>• バランス低下</a:t>
            </a:r>
          </a:p>
          <a:p>
            <a:pPr>
              <a:defRPr sz="2000"/>
            </a:pPr>
            <a:r>
              <a:t>• 屋外移動能力不足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0" name="介入内容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介入内容</a:t>
            </a:r>
          </a:p>
        </p:txBody>
      </p:sp>
      <p:sp>
        <p:nvSpPr>
          <p:cNvPr id="201" name="• 裸足での立位バランス練習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裸足での立位バランス練習</a:t>
            </a:r>
          </a:p>
          <a:p>
            <a:pPr>
              <a:defRPr sz="2000"/>
            </a:pPr>
            <a:r>
              <a:t>• エルゴメーター</a:t>
            </a:r>
          </a:p>
          <a:p>
            <a:pPr>
              <a:defRPr sz="2000"/>
            </a:pPr>
            <a:r>
              <a:t>• 支持性向上を意識した運動療法</a:t>
            </a:r>
          </a:p>
          <a:p>
            <a:pPr>
              <a:defRPr sz="2000"/>
            </a:pPr>
            <a:r>
              <a:t>• 安全な歩行獲得に向けた準備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4" name="介入の意図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介入の意図</a:t>
            </a:r>
          </a:p>
        </p:txBody>
      </p:sp>
      <p:sp>
        <p:nvSpPr>
          <p:cNvPr id="205" name="• 立位制御の改善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立位制御の改善</a:t>
            </a:r>
          </a:p>
          <a:p>
            <a:pPr>
              <a:defRPr sz="2000"/>
            </a:pPr>
            <a:r>
              <a:t>• 感覚入力の活用</a:t>
            </a:r>
          </a:p>
          <a:p>
            <a:pPr>
              <a:defRPr sz="2000"/>
            </a:pPr>
            <a:r>
              <a:t>• 活動量と持久性の確保</a:t>
            </a:r>
          </a:p>
          <a:p>
            <a:pPr>
              <a:defRPr sz="2000"/>
            </a:pPr>
            <a:r>
              <a:t>• 歩行練習へつながる土台作り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8" name="治療方針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治療方針</a:t>
            </a:r>
          </a:p>
        </p:txBody>
      </p:sp>
      <p:sp>
        <p:nvSpPr>
          <p:cNvPr id="209" name="• 安全管理を最優先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安全管理を最優先</a:t>
            </a:r>
          </a:p>
          <a:p>
            <a:pPr>
              <a:defRPr sz="2000"/>
            </a:pPr>
            <a:r>
              <a:t>• 左下肢支持性を向上する</a:t>
            </a:r>
          </a:p>
          <a:p>
            <a:pPr>
              <a:defRPr sz="2000"/>
            </a:pPr>
            <a:r>
              <a:t>• バランス能力を改善する</a:t>
            </a:r>
          </a:p>
          <a:p>
            <a:pPr>
              <a:defRPr sz="2000"/>
            </a:pPr>
            <a:r>
              <a:t>• 歩行代償を軽減する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2" name="まとめ・臨床的示唆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まとめ・臨床的示唆</a:t>
            </a:r>
          </a:p>
        </p:txBody>
      </p:sp>
      <p:sp>
        <p:nvSpPr>
          <p:cNvPr id="213" name="• 歩行不安定性の主因は支持性と感覚入力の低下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歩行不安定性の主因は支持性と感覚入力の低下</a:t>
            </a:r>
          </a:p>
          <a:p>
            <a:pPr>
              <a:defRPr sz="2000"/>
            </a:pPr>
            <a:r>
              <a:t>• 屋外移動を見据えた実用性が重要</a:t>
            </a:r>
          </a:p>
          <a:p>
            <a:pPr>
              <a:defRPr sz="2000"/>
            </a:pPr>
            <a:r>
              <a:t>• 安全管理下で段階的に歩行能力向上を図る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