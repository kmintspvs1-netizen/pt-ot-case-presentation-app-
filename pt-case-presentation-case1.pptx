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作者と日付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24" name="本文レベル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44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61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7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7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92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10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10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109" name="議題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110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本文レベル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36" name="本文レベル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/>
            </a:lvl1pPr>
            <a:lvl2pPr marL="638923" indent="-12700">
              <a:spcBef>
                <a:spcPts val="0"/>
              </a:spcBef>
              <a:buSzTx/>
              <a:buNone/>
              <a:defRPr spc="-170" sz="8500"/>
            </a:lvl2pPr>
            <a:lvl3pPr marL="638923" indent="444500">
              <a:spcBef>
                <a:spcPts val="0"/>
              </a:spcBef>
              <a:buSzTx/>
              <a:buNone/>
              <a:defRPr spc="-170" sz="8500"/>
            </a:lvl3pPr>
            <a:lvl4pPr marL="638923" indent="901700">
              <a:spcBef>
                <a:spcPts val="0"/>
              </a:spcBef>
              <a:buSzTx/>
              <a:buNone/>
              <a:defRPr spc="-170" sz="8500"/>
            </a:lvl4pPr>
            <a:lvl5pPr marL="638923" indent="1358900">
              <a:spcBef>
                <a:spcPts val="0"/>
              </a:spcBef>
              <a:buSzTx/>
              <a:buNone/>
              <a:defRPr spc="-170" sz="8500"/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3" name="本文レベル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78411" y="13125399"/>
            <a:ext cx="41468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PT Case Presenta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PT Case Presentation</a:t>
            </a:r>
          </a:p>
        </p:txBody>
      </p:sp>
      <p:sp>
        <p:nvSpPr>
          <p:cNvPr id="173" name="Initial Evaluation: Lumbar Spinal Stenosi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 Evaluation: Lumbar Spinal Stenosis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Case Overview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Case Overview</a:t>
            </a:r>
          </a:p>
        </p:txBody>
      </p:sp>
      <p:sp>
        <p:nvSpPr>
          <p:cNvPr id="177" name="• Diagnosis: Lumbar spinal stenosis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79729">
              <a:defRPr sz="2530"/>
            </a:pPr>
            <a:r>
              <a:t>• Diagnosis: Lumbar spinal stenosis</a:t>
            </a:r>
          </a:p>
          <a:p>
            <a:pPr defTabSz="379729">
              <a:defRPr sz="2530"/>
            </a:pPr>
            <a:r>
              <a:t>• 70-year-old male</a:t>
            </a:r>
          </a:p>
          <a:p>
            <a:pPr defTabSz="379729">
              <a:defRPr sz="2530"/>
            </a:pPr>
            <a:r>
              <a:t>• Conservative treatment</a:t>
            </a:r>
          </a:p>
          <a:p>
            <a:pPr defTabSz="379729">
              <a:defRPr sz="2530"/>
            </a:pPr>
            <a:r>
              <a:t>• Lives alone; needs subway and bus for hospital visits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Chief Complaint and Goal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Chief Complaint and Goal</a:t>
            </a:r>
          </a:p>
        </p:txBody>
      </p:sp>
      <p:sp>
        <p:nvSpPr>
          <p:cNvPr id="181" name="• Chief complaint: unable to walk independently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36575">
              <a:defRPr sz="3575"/>
            </a:pPr>
            <a:r>
              <a:t>• Chief complaint: unable to walk independently</a:t>
            </a:r>
          </a:p>
          <a:p>
            <a:pPr defTabSz="536575">
              <a:defRPr sz="3575"/>
            </a:pPr>
            <a:r>
              <a:t>• Goal: independent outdoor ambulation with cane or walker</a:t>
            </a:r>
          </a:p>
          <a:p>
            <a:pPr defTabSz="536575">
              <a:defRPr sz="3575"/>
            </a:pPr>
            <a:r>
              <a:t>• Current mobility: independent wheelchair mobility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Evaluation Finding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Evaluation Findings</a:t>
            </a:r>
          </a:p>
        </p:txBody>
      </p:sp>
      <p:sp>
        <p:nvSpPr>
          <p:cNvPr id="185" name="• Low back pain during bed mobility and transfers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30200">
              <a:defRPr sz="2200"/>
            </a:pPr>
            <a:r>
              <a:t>• Low back pain during bed mobility and transfers</a:t>
            </a:r>
          </a:p>
          <a:p>
            <a:pPr defTabSz="330200">
              <a:defRPr sz="2200"/>
            </a:pPr>
            <a:r>
              <a:t>• Limited left hip flexion ROM</a:t>
            </a:r>
          </a:p>
          <a:p>
            <a:pPr defTabSz="330200">
              <a:defRPr sz="2200"/>
            </a:pPr>
            <a:r>
              <a:t>• Left lower extremity strength at MMT 4 level</a:t>
            </a:r>
          </a:p>
          <a:p>
            <a:pPr defTabSz="330200">
              <a:defRPr sz="2200"/>
            </a:pPr>
            <a:r>
              <a:t>• FBS: 24 points</a:t>
            </a:r>
          </a:p>
          <a:p>
            <a:pPr defTabSz="330200">
              <a:defRPr sz="2200"/>
            </a:pPr>
            <a:r>
              <a:t>• Moderate superficial sensory dullness in left lower extremity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Gait and Precaution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Gait and Precautions</a:t>
            </a:r>
          </a:p>
        </p:txBody>
      </p:sp>
      <p:sp>
        <p:nvSpPr>
          <p:cNvPr id="189" name="• Left knee back knee during gait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79729">
              <a:defRPr sz="2530"/>
            </a:pPr>
            <a:r>
              <a:t>• Left knee back knee during gait</a:t>
            </a:r>
          </a:p>
          <a:p>
            <a:pPr defTabSz="379729">
              <a:defRPr sz="2530"/>
            </a:pPr>
            <a:r>
              <a:t>• Quadriceps-dominant compensation observed</a:t>
            </a:r>
          </a:p>
          <a:p>
            <a:pPr defTabSz="379729">
              <a:defRPr sz="2530"/>
            </a:pPr>
            <a:r>
              <a:t>• Corset in use</a:t>
            </a:r>
          </a:p>
          <a:p>
            <a:pPr defTabSz="379729">
              <a:defRPr sz="2530"/>
            </a:pPr>
            <a:r>
              <a:t>• Left lower extremity DVT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Problem Li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 List</a:t>
            </a:r>
          </a:p>
        </p:txBody>
      </p:sp>
      <p:sp>
        <p:nvSpPr>
          <p:cNvPr id="193" name="• Reduced left lower extremity support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30200">
              <a:defRPr sz="2200"/>
            </a:pPr>
            <a:r>
              <a:t>• Reduced left lower extremity support</a:t>
            </a:r>
          </a:p>
          <a:p>
            <a:pPr defTabSz="330200">
              <a:defRPr sz="2200"/>
            </a:pPr>
            <a:r>
              <a:t>• Reduced sensory input during standing and gait</a:t>
            </a:r>
          </a:p>
          <a:p>
            <a:pPr defTabSz="330200">
              <a:defRPr sz="2200"/>
            </a:pPr>
            <a:r>
              <a:t>• Decreased balance with high fall risk</a:t>
            </a:r>
          </a:p>
          <a:p>
            <a:pPr defTabSz="330200">
              <a:defRPr sz="2200"/>
            </a:pPr>
            <a:r>
              <a:t>• Inefficient and unsafe gait pattern</a:t>
            </a:r>
          </a:p>
          <a:p>
            <a:pPr defTabSz="330200">
              <a:defRPr sz="2200"/>
            </a:pPr>
            <a:r>
              <a:t>• Insufficient outdoor mobility for independent living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Clinical Interpreta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Clinical Interpretation</a:t>
            </a:r>
          </a:p>
        </p:txBody>
      </p:sp>
      <p:sp>
        <p:nvSpPr>
          <p:cNvPr id="197" name="• Pain, ROM restriction, weakness, sensory loss, and poor balance limit gait independence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28319">
              <a:defRPr sz="3520"/>
            </a:pPr>
            <a:r>
              <a:t>• Pain, ROM restriction, weakness, sensory loss, and poor balance limit gait independence</a:t>
            </a:r>
          </a:p>
          <a:p>
            <a:pPr defTabSz="528319">
              <a:defRPr sz="3520"/>
            </a:pPr>
            <a:r>
              <a:t>• Back knee likely appears as compensation for poor left-side support</a:t>
            </a:r>
          </a:p>
          <a:p>
            <a:pPr defTabSz="528319">
              <a:defRPr sz="3520"/>
            </a:pPr>
            <a:r>
              <a:t>• Practical outdoor walking ability is essential due to living situation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Current Treatment and Rational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Current Treatment and Rationale</a:t>
            </a:r>
          </a:p>
        </p:txBody>
      </p:sp>
      <p:sp>
        <p:nvSpPr>
          <p:cNvPr id="201" name="• Barefoot standing balance practice: target standing control and sensory use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28319">
              <a:defRPr sz="3520"/>
            </a:pPr>
            <a:r>
              <a:t>• Barefoot standing balance practice: target standing control and sensory use</a:t>
            </a:r>
          </a:p>
          <a:p>
            <a:pPr defTabSz="528319">
              <a:defRPr sz="3520"/>
            </a:pPr>
            <a:r>
              <a:t>• Ergometer: maintain activity level and endurance with lower walking load</a:t>
            </a:r>
          </a:p>
          <a:p>
            <a:pPr defTabSz="528319">
              <a:defRPr sz="3520"/>
            </a:pPr>
            <a:r>
              <a:t>• Exercise therapy in lumbar spinal stenosis is associated with improved pain and function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Treatment Plan and Goal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Treatment Plan and Goals</a:t>
            </a:r>
          </a:p>
        </p:txBody>
      </p:sp>
      <p:sp>
        <p:nvSpPr>
          <p:cNvPr id="205" name="• Prioritize safety with DVT, pain, and corset precautions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79729">
              <a:defRPr sz="2530"/>
            </a:pPr>
            <a:r>
              <a:t>• Prioritize safety with DVT, pain, and corset precautions</a:t>
            </a:r>
          </a:p>
          <a:p>
            <a:pPr defTabSz="379729">
              <a:defRPr sz="2530"/>
            </a:pPr>
            <a:r>
              <a:t>• Improve left lower extremity support and standing balance</a:t>
            </a:r>
          </a:p>
          <a:p>
            <a:pPr defTabSz="379729">
              <a:defRPr sz="2530"/>
            </a:pPr>
            <a:r>
              <a:t>• Reduce gait compensation and improve walking stability</a:t>
            </a:r>
          </a:p>
          <a:p>
            <a:pPr defTabSz="379729">
              <a:defRPr sz="2530"/>
            </a:pPr>
            <a:r>
              <a:t>• Aim for independent outdoor ambulation with cane or walker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